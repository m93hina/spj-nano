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33B"/>
                </a:solidFill>
                <a:latin typeface="Yu Gothic"/>
              </a:defRPr>
            </a:pPr>
            <a:r>
              <a:rPr sz="1300" b="0" i="0" u="none" strike="noStrike">
                <a:solidFill>
                  <a:srgbClr val="22333B"/>
                </a:solidFill>
                <a:latin typeface="Yu Gothic"/>
              </a:rPr>
              <a:t>予測誤差(ppm) ― 小さいほど正確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MAE(平均絶対誤差)</c:v>
                </c:pt>
              </c:strCache>
            </c:strRef>
          </c:tx>
          <c:spPr>
            <a:solidFill>
              <a:srgbClr val="18A9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333B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+15分</c:v>
                  </c:pt>
                  <c:pt idx="1">
                    <c:v>+30分</c:v>
                  </c:pt>
                  <c:pt idx="2">
                    <c:v>+60分</c:v>
                  </c:pt>
                  <c:pt idx="3">
                    <c:v>+120分</c:v>
                  </c:pt>
                  <c:pt idx="4">
                    <c:v>+180分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</c:v>
                </c:pt>
                <c:pt idx="1">
                  <c:v>12.5</c:v>
                </c:pt>
                <c:pt idx="2">
                  <c:v>19.8</c:v>
                </c:pt>
                <c:pt idx="3">
                  <c:v>31.9</c:v>
                </c:pt>
                <c:pt idx="4">
                  <c:v>39.8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B9CF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333B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+15分</c:v>
                  </c:pt>
                  <c:pt idx="1">
                    <c:v>+30分</c:v>
                  </c:pt>
                  <c:pt idx="2">
                    <c:v>+60分</c:v>
                  </c:pt>
                  <c:pt idx="3">
                    <c:v>+120分</c:v>
                  </c:pt>
                  <c:pt idx="4">
                    <c:v>+180分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13.1</c:v>
                </c:pt>
                <c:pt idx="1">
                  <c:v>20</c:v>
                </c:pt>
                <c:pt idx="2">
                  <c:v>30.7</c:v>
                </c:pt>
                <c:pt idx="3">
                  <c:v>46.9</c:v>
                </c:pt>
                <c:pt idx="4">
                  <c:v>58.5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333B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33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12700" cap="flat">
              <a:solidFill>
                <a:srgbClr val="E3ED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70"/>
              </a:solidFill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548640"/>
            <a:ext cx="2377440" cy="2377440"/>
          </a:xfrm>
          <a:prstGeom prst="ellipse">
            <a:avLst/>
          </a:prstGeom>
          <a:solidFill>
            <a:srgbClr val="18A99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2377440"/>
            <a:ext cx="1554480" cy="1554480"/>
          </a:xfrm>
          <a:prstGeom prst="ellipse">
            <a:avLst/>
          </a:prstGeom>
          <a:solidFill>
            <a:srgbClr val="18A999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3291840"/>
            <a:ext cx="960120" cy="960120"/>
          </a:xfrm>
          <a:prstGeom prst="ellipse">
            <a:avLst/>
          </a:prstGeom>
          <a:solidFill>
            <a:srgbClr val="CDE7E4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4389120"/>
            <a:ext cx="2011680" cy="2011680"/>
          </a:xfrm>
          <a:prstGeom prst="ellipse">
            <a:avLst/>
          </a:prstGeom>
          <a:solidFill>
            <a:srgbClr val="18A999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64040" y="2697480"/>
            <a:ext cx="502920" cy="502920"/>
          </a:xfrm>
          <a:prstGeom prst="ellipse">
            <a:avLst/>
          </a:prstGeom>
          <a:solidFill>
            <a:srgbClr val="CDE7E4">
              <a:alpha val="3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3977640"/>
            <a:ext cx="731520" cy="731520"/>
          </a:xfrm>
          <a:prstGeom prst="ellipse">
            <a:avLst/>
          </a:prstGeom>
          <a:solidFill>
            <a:srgbClr val="CDE7E4">
              <a:alpha val="2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5394960"/>
            <a:ext cx="1051560" cy="1051560"/>
          </a:xfrm>
          <a:prstGeom prst="ellipse">
            <a:avLst/>
          </a:prstGeom>
          <a:solidFill>
            <a:srgbClr val="18A999">
              <a:alpha val="3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名城大学 天白キャンパス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B1F フリースペース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混雑予測システム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9436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CO2センサーで「いま」と「この先3時間」の混みぐあいを見える化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2026年7月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背景と課題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566928" cy="566928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5453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行ってみないと分からない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98424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机・椅子・コンビニのあるB1Fフリースペースは人気が高く、混雑の波が大きい。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3172968"/>
            <a:ext cx="566928" cy="566928"/>
          </a:xfrm>
          <a:prstGeom prst="ellipse">
            <a:avLst/>
          </a:prstGeom>
          <a:solidFill>
            <a:srgbClr val="CE4A4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172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311810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カメラでの人数計測は不可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3557016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学内施設のため、カメラの常設・長時間設置ができない(プライバシー・施設上の制約)。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745736"/>
            <a:ext cx="566928" cy="566928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4745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46908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CO2濃度を人の「代理指標」に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51297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在室人数が増えるほど呼気でCO2濃度が上がる性質を利用し、設置済みセンサーだけで混雑を推定・予測する。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69480" y="1463040"/>
            <a:ext cx="4343400" cy="4709160"/>
          </a:xfrm>
          <a:prstGeom prst="roundRect">
            <a:avLst>
              <a:gd name="adj" fmla="val 1895"/>
            </a:avLst>
          </a:prstGeom>
          <a:solidFill>
            <a:srgbClr val="E9F4F3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7373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設置済み Airoco センサー(7台)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70648" y="2221992"/>
            <a:ext cx="3941064" cy="475488"/>
          </a:xfrm>
          <a:prstGeom prst="roundRect">
            <a:avLst>
              <a:gd name="adj" fmla="val 11538"/>
            </a:avLst>
          </a:prstGeom>
          <a:solidFill>
            <a:srgbClr val="18A999"/>
          </a:solidFill>
          <a:ln/>
        </p:spPr>
      </p:sp>
      <p:sp>
        <p:nvSpPr>
          <p:cNvPr id="18" name="Text 16"/>
          <p:cNvSpPr/>
          <p:nvPr/>
        </p:nvSpPr>
        <p:spPr>
          <a:xfrm>
            <a:off x="7616952" y="22860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B1F エレベーターホール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131552" y="2286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予測対象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16952" y="27980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1F エレベーターホール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131552" y="27980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参照信号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16952" y="33101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3F エレベーターホール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131552" y="33101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参照信号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616952" y="38221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4F エレベーターホール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131552" y="38221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参照信号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616952" y="4334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講義室 301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131552" y="43342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参照信号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16952" y="48463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講義室 401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131552" y="48463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参照信号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616952" y="53583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講義室 403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131552" y="53583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参照信号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89520" y="59161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温度・湿度・CO2濃度を5分間隔で計測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システム構成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E9F4F3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50392" y="180136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Airoco クラウド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50392" y="222199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設置センサーの計測値をAPIで提供(5分値)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26280" y="160020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E9F4F3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82312" y="180136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収集サーバー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782312" y="222199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10分間隔でポーリングしDBへ保存。起動時に欠測を自動補完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58200" y="160020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E9F4F3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14232" y="180136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SQLite データベース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714232" y="222199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約1年分・73.9万件を蓄積(7センサー)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97764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E9F4F3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" y="417880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50392" y="459943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センサースパイク除去、混雑閾値の自動算出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397764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E9F4F3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82312" y="417880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LightGBM 推論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782312" y="459943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15〜180分後のCO2を5つの学習済みモデルで予測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3977640"/>
            <a:ext cx="3246120" cy="1600200"/>
          </a:xfrm>
          <a:prstGeom prst="roundRect">
            <a:avLst>
              <a:gd name="adj" fmla="val 5143"/>
            </a:avLst>
          </a:prstGeom>
          <a:solidFill>
            <a:srgbClr val="0A5566"/>
          </a:solidFill>
          <a:ln/>
          <a:effectLst>
            <a:outerShdw sx="100000" sy="100000" kx="0" ky="0" algn="bl" rotWithShape="0" blurRad="76200" dist="25400" dir="5400000">
              <a:srgbClr val="9AB5B2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14232" y="417880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 ダッシュボード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714232" y="459943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FastAPI + 静的フロントエンド。5分ごとに自動更新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50208" y="2318004"/>
            <a:ext cx="457200" cy="310896"/>
          </a:xfrm>
          <a:prstGeom prst="rightArrow">
            <a:avLst/>
          </a:prstGeom>
          <a:solidFill>
            <a:srgbClr val="18A999"/>
          </a:solidFill>
          <a:ln/>
        </p:spPr>
      </p:sp>
      <p:sp>
        <p:nvSpPr>
          <p:cNvPr id="22" name="Shape 20"/>
          <p:cNvSpPr/>
          <p:nvPr/>
        </p:nvSpPr>
        <p:spPr>
          <a:xfrm>
            <a:off x="3950208" y="4695444"/>
            <a:ext cx="457200" cy="310896"/>
          </a:xfrm>
          <a:prstGeom prst="rightArrow">
            <a:avLst/>
          </a:prstGeom>
          <a:solidFill>
            <a:srgbClr val="18A999"/>
          </a:solidFill>
          <a:ln/>
        </p:spPr>
      </p:sp>
      <p:sp>
        <p:nvSpPr>
          <p:cNvPr id="23" name="Shape 21"/>
          <p:cNvSpPr/>
          <p:nvPr/>
        </p:nvSpPr>
        <p:spPr>
          <a:xfrm>
            <a:off x="7882128" y="2318004"/>
            <a:ext cx="457200" cy="310896"/>
          </a:xfrm>
          <a:prstGeom prst="rightArrow">
            <a:avLst/>
          </a:prstGeom>
          <a:solidFill>
            <a:srgbClr val="18A999"/>
          </a:solidFill>
          <a:ln/>
        </p:spPr>
      </p:sp>
      <p:sp>
        <p:nvSpPr>
          <p:cNvPr id="24" name="Shape 22"/>
          <p:cNvSpPr/>
          <p:nvPr/>
        </p:nvSpPr>
        <p:spPr>
          <a:xfrm>
            <a:off x="7882128" y="4695444"/>
            <a:ext cx="457200" cy="310896"/>
          </a:xfrm>
          <a:prstGeom prst="rightArrow">
            <a:avLst/>
          </a:prstGeom>
          <a:solidFill>
            <a:srgbClr val="18A999"/>
          </a:solidFill>
          <a:ln/>
        </p:spPr>
      </p:sp>
      <p:sp>
        <p:nvSpPr>
          <p:cNvPr id="25" name="Shape 23"/>
          <p:cNvSpPr/>
          <p:nvPr/>
        </p:nvSpPr>
        <p:spPr>
          <a:xfrm>
            <a:off x="9925812" y="3364992"/>
            <a:ext cx="310896" cy="457200"/>
          </a:xfrm>
          <a:prstGeom prst="downArrow">
            <a:avLst/>
          </a:prstGeom>
          <a:solidFill>
            <a:srgbClr val="18A999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41985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蓄積データを前処理へ(下段は左から右へ)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589788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モデルの学習はPCで実施し、配信側は推論のみ。Jetson Nanoのような非力なエッジ端末でも動作する軽量構成。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データと事前分析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2441448" cy="1691640"/>
          </a:xfrm>
          <a:prstGeom prst="roundRect">
            <a:avLst>
              <a:gd name="adj" fmla="val 4865"/>
            </a:avLst>
          </a:prstGeom>
          <a:solidFill>
            <a:srgbClr val="E9F4F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664208"/>
            <a:ext cx="2441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39572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データ期間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2025年7月〜2026年7月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47288" y="1463040"/>
            <a:ext cx="2441448" cy="1691640"/>
          </a:xfrm>
          <a:prstGeom prst="roundRect">
            <a:avLst>
              <a:gd name="adj" fmla="val 4865"/>
            </a:avLst>
          </a:prstGeom>
          <a:solidFill>
            <a:srgbClr val="E9F4F3"/>
          </a:solidFill>
          <a:ln/>
        </p:spPr>
      </p:sp>
      <p:sp>
        <p:nvSpPr>
          <p:cNvPr id="7" name="Text 5"/>
          <p:cNvSpPr/>
          <p:nvPr/>
        </p:nvSpPr>
        <p:spPr>
          <a:xfrm>
            <a:off x="3447288" y="1664208"/>
            <a:ext cx="2441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73.9万件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584448" y="239572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蓄積した計測値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(7センサー合計)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0216" y="1463040"/>
            <a:ext cx="2441448" cy="1691640"/>
          </a:xfrm>
          <a:prstGeom prst="roundRect">
            <a:avLst>
              <a:gd name="adj" fmla="val 4865"/>
            </a:avLst>
          </a:prstGeom>
          <a:solidFill>
            <a:srgbClr val="E9F4F3"/>
          </a:solidFill>
          <a:ln/>
        </p:spPr>
      </p:sp>
      <p:sp>
        <p:nvSpPr>
          <p:cNvPr id="10" name="Text 8"/>
          <p:cNvSpPr/>
          <p:nvPr/>
        </p:nvSpPr>
        <p:spPr>
          <a:xfrm>
            <a:off x="6300216" y="1664208"/>
            <a:ext cx="2441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37376" y="239572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計測間隔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欠測ほぼゼロの安定運用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53144" y="1463040"/>
            <a:ext cx="2441448" cy="1691640"/>
          </a:xfrm>
          <a:prstGeom prst="roundRect">
            <a:avLst>
              <a:gd name="adj" fmla="val 4865"/>
            </a:avLst>
          </a:prstGeom>
          <a:solidFill>
            <a:srgbClr val="E9F4F3"/>
          </a:solidFill>
          <a:ln/>
        </p:spPr>
      </p:sp>
      <p:sp>
        <p:nvSpPr>
          <p:cNvPr id="13" name="Text 11"/>
          <p:cNvSpPr/>
          <p:nvPr/>
        </p:nvSpPr>
        <p:spPr>
          <a:xfrm>
            <a:off x="9153144" y="1664208"/>
            <a:ext cx="2441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±9%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290304" y="2395728"/>
            <a:ext cx="216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無人時ベースラインの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日次変動(460〜470ppm)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1ヶ月分の事前分析で確かめたこと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023360"/>
            <a:ext cx="339242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D5E5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251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曜日×時刻だけで84%を説明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" y="49377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曜日×時刻ごとの過去平均だけでCO2変動のR²相当0.845。混雑には強い時間パターンがあり、予測が成立する見込みを確認。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98264" y="4023360"/>
            <a:ext cx="339242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D5E5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4251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無人時ベースラインが安定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54296" y="49377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深夜・休日のCO2はおよそ460〜470ppmで安定。人由来の上昇分を分離できる。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02168" y="4023360"/>
            <a:ext cx="339242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D5E5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4251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従来の閾値は実態と乖離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58200" y="49377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固定閾値(500/700/1000ppm)では最上位が一度も出現しない。実測分布に基づく閾値への再設定が必要と判明。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混雑レベル ― データ駆動の4段階閾値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2441448" cy="2377440"/>
          </a:xfrm>
          <a:prstGeom prst="roundRect">
            <a:avLst>
              <a:gd name="adj" fmla="val 3846"/>
            </a:avLst>
          </a:prstGeom>
          <a:solidFill>
            <a:srgbClr val="3BA27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87452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空いています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306324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〜550 ppm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47288" y="1600200"/>
            <a:ext cx="2441448" cy="2377440"/>
          </a:xfrm>
          <a:prstGeom prst="roundRect">
            <a:avLst>
              <a:gd name="adj" fmla="val 3846"/>
            </a:avLst>
          </a:prstGeom>
          <a:solidFill>
            <a:srgbClr val="D9A521"/>
          </a:solidFill>
          <a:ln/>
        </p:spPr>
      </p:sp>
      <p:sp>
        <p:nvSpPr>
          <p:cNvPr id="8" name="Text 6"/>
          <p:cNvSpPr/>
          <p:nvPr/>
        </p:nvSpPr>
        <p:spPr>
          <a:xfrm>
            <a:off x="3447288" y="187452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47288" y="228600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やや利用あり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47288" y="306324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550〜650 ppm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0216" y="1600200"/>
            <a:ext cx="2441448" cy="2377440"/>
          </a:xfrm>
          <a:prstGeom prst="roundRect">
            <a:avLst>
              <a:gd name="adj" fmla="val 3846"/>
            </a:avLst>
          </a:prstGeom>
          <a:solidFill>
            <a:srgbClr val="E07B39"/>
          </a:solidFill>
          <a:ln/>
        </p:spPr>
      </p:sp>
      <p:sp>
        <p:nvSpPr>
          <p:cNvPr id="12" name="Text 10"/>
          <p:cNvSpPr/>
          <p:nvPr/>
        </p:nvSpPr>
        <p:spPr>
          <a:xfrm>
            <a:off x="6300216" y="187452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0216" y="228600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混雑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00216" y="306324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650〜760 ppm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53144" y="1600200"/>
            <a:ext cx="2441448" cy="2377440"/>
          </a:xfrm>
          <a:prstGeom prst="roundRect">
            <a:avLst>
              <a:gd name="adj" fmla="val 3846"/>
            </a:avLst>
          </a:prstGeom>
          <a:solidFill>
            <a:srgbClr val="CE4A4A"/>
          </a:solidFill>
          <a:ln/>
        </p:spPr>
      </p:sp>
      <p:sp>
        <p:nvSpPr>
          <p:cNvPr id="16" name="Text 14"/>
          <p:cNvSpPr/>
          <p:nvPr/>
        </p:nvSpPr>
        <p:spPr>
          <a:xfrm>
            <a:off x="9153144" y="187452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53144" y="228600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非常に混雑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53144" y="306324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760 ppm〜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4343400"/>
            <a:ext cx="5294376" cy="1783080"/>
          </a:xfrm>
          <a:prstGeom prst="roundRect">
            <a:avLst>
              <a:gd name="adj" fmla="val 4615"/>
            </a:avLst>
          </a:prstGeom>
          <a:solidFill>
            <a:srgbClr val="E9F4F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572000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分位点ベースで自動更新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68680" y="498348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閾値は固定値ではなく、平日日中(9〜18時)の実測分布の分位点(30/55/90%点)から自動算出。データが増えるほど実態に追従する。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0216" y="4343400"/>
            <a:ext cx="5294376" cy="1783080"/>
          </a:xfrm>
          <a:prstGeom prst="roundRect">
            <a:avLst>
              <a:gd name="adj" fmla="val 4615"/>
            </a:avLst>
          </a:prstGeom>
          <a:solidFill>
            <a:srgbClr val="E9F4F3"/>
          </a:solidFill>
          <a:ln/>
        </p:spPr>
      </p:sp>
      <p:sp>
        <p:nvSpPr>
          <p:cNvPr id="23" name="Text 21"/>
          <p:cNvSpPr/>
          <p:nvPr/>
        </p:nvSpPr>
        <p:spPr>
          <a:xfrm>
            <a:off x="6574536" y="4572000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実測レンジに合わせて再設計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74536" y="4983480"/>
            <a:ext cx="4745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B1Fの通常利用時のCO2はおよそ450〜850ppm。従来の「1000ppmで最混雑」では観測期間中に一度も最上位に達しなかったため、全4段階が実際に出現する閾値へ再設定した。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予測モデル ― LightGBM × 5ホライズン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15・30・60・120・180分後のCO2濃度を、それぞれ専用の回帰モデルで直接予測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242316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A556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4231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+15分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24231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専用モデル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3172968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A556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17296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+30分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31729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専用モデル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922776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A556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92277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+60分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392277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専用モデル 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672584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A556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67258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+120分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467258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専用モデル 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5422392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A556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54223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+180分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54223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専用モデル 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88個の特徴量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196596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E9F4F3"/>
          </a:solidFill>
          <a:ln/>
        </p:spPr>
      </p:sp>
      <p:sp>
        <p:nvSpPr>
          <p:cNvPr id="21" name="Text 19"/>
          <p:cNvSpPr/>
          <p:nvPr/>
        </p:nvSpPr>
        <p:spPr>
          <a:xfrm>
            <a:off x="6437376" y="214884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全7センサーの時系列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37376" y="2569464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各センサーの現在値と5分前〜3時間前のラグ値。他フロアの動きが空調・外気などの共通変動を教えてくれる。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235440" y="196596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E9F4F3"/>
          </a:solidFill>
          <a:ln/>
        </p:spPr>
      </p:sp>
      <p:sp>
        <p:nvSpPr>
          <p:cNvPr id="24" name="Text 22"/>
          <p:cNvSpPr/>
          <p:nvPr/>
        </p:nvSpPr>
        <p:spPr>
          <a:xfrm>
            <a:off x="9454896" y="214884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直近の統計量と変化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54896" y="2569464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対象センサーの直近15分〜3時間の平均・ばらつき・最小最大、変化量。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425196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E9F4F3"/>
          </a:solidFill>
          <a:ln/>
        </p:spPr>
      </p:sp>
      <p:sp>
        <p:nvSpPr>
          <p:cNvPr id="27" name="Text 25"/>
          <p:cNvSpPr/>
          <p:nvPr/>
        </p:nvSpPr>
        <p:spPr>
          <a:xfrm>
            <a:off x="6437376" y="443484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時間パターン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37376" y="4855464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曜日×時刻の過去平均ベースラインとの残差、時刻・曜日の周期性(sin/cos)。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235440" y="4251960"/>
            <a:ext cx="2697480" cy="2011680"/>
          </a:xfrm>
          <a:prstGeom prst="roundRect">
            <a:avLst>
              <a:gd name="adj" fmla="val 4091"/>
            </a:avLst>
          </a:prstGeom>
          <a:solidFill>
            <a:srgbClr val="E9F4F3"/>
          </a:solidFill>
          <a:ln/>
        </p:spPr>
      </p:sp>
      <p:sp>
        <p:nvSpPr>
          <p:cNvPr id="30" name="Text 28"/>
          <p:cNvSpPr/>
          <p:nvPr/>
        </p:nvSpPr>
        <p:spPr>
          <a:xfrm>
            <a:off x="9454896" y="443484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学年暦カレンダー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54896" y="4855464"/>
            <a:ext cx="2258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学年暦PDFから抽出した授業日・行事マーカー。授業のある日とない日の違いを学習。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4360" y="635508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学習: 過去1年分のデータ / 検証: 直近14日をホールドアウトする時系列分割で評価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予測精度 ― 直近14日での検証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94360" y="1463040"/>
          <a:ext cx="6675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77240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15分後予測の誤差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0" y="1920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±8.1 ppm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7772400" y="3108960"/>
            <a:ext cx="3840480" cy="2743200"/>
          </a:xfrm>
          <a:prstGeom prst="roundRect">
            <a:avLst>
              <a:gd name="adj" fmla="val 3000"/>
            </a:avLst>
          </a:prstGeom>
          <a:solidFill>
            <a:srgbClr val="E9F4F3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33375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レベル1段の幅は約100ppm。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3時間先でも誤差40ppm程度に収まり、混雑レベルの判定に十分な精度。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検証は学習に使っていない直近14日(約4,000点/ホライズン)で実施。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55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Webダッシュボード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508760"/>
            <a:ext cx="4846320" cy="4663440"/>
          </a:xfrm>
          <a:prstGeom prst="roundRect">
            <a:avLst>
              <a:gd name="adj" fmla="val 1961"/>
            </a:avLst>
          </a:prstGeom>
          <a:solidFill>
            <a:srgbClr val="F4F8F8"/>
          </a:solidFill>
          <a:ln w="15875">
            <a:solidFill>
              <a:srgbClr val="D5E5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42976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0EA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057400"/>
            <a:ext cx="1371600" cy="457200"/>
          </a:xfrm>
          <a:prstGeom prst="roundRect">
            <a:avLst>
              <a:gd name="adj" fmla="val 48000"/>
            </a:avLst>
          </a:prstGeom>
          <a:solidFill>
            <a:srgbClr val="D9A52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やや利用あり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51760" y="2011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612 ppm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97280" y="2487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1時間後: 混雑の見込み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68680" y="2971800"/>
            <a:ext cx="42976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0EA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混雑の推移と予測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flipV="1">
            <a:off x="1143000" y="4206240"/>
            <a:ext cx="502920" cy="228600"/>
          </a:xfrm>
          <a:prstGeom prst="line">
            <a:avLst/>
          </a:prstGeom>
          <a:noFill/>
          <a:ln w="28575">
            <a:solidFill>
              <a:srgbClr val="0A55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4206240"/>
            <a:ext cx="502920" cy="137160"/>
          </a:xfrm>
          <a:prstGeom prst="line">
            <a:avLst/>
          </a:prstGeom>
          <a:noFill/>
          <a:ln w="28575">
            <a:solidFill>
              <a:srgbClr val="0A55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148840" y="3931920"/>
            <a:ext cx="502920" cy="411480"/>
          </a:xfrm>
          <a:prstGeom prst="line">
            <a:avLst/>
          </a:prstGeom>
          <a:noFill/>
          <a:ln w="28575">
            <a:solidFill>
              <a:srgbClr val="0A55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3931920"/>
            <a:ext cx="502920" cy="137160"/>
          </a:xfrm>
          <a:prstGeom prst="line">
            <a:avLst/>
          </a:prstGeom>
          <a:noFill/>
          <a:ln w="28575">
            <a:solidFill>
              <a:srgbClr val="0A55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154680" y="3749040"/>
            <a:ext cx="502920" cy="320040"/>
          </a:xfrm>
          <a:prstGeom prst="line">
            <a:avLst/>
          </a:prstGeom>
          <a:noFill/>
          <a:ln w="28575">
            <a:solidFill>
              <a:srgbClr val="0A55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3657600" y="3611880"/>
            <a:ext cx="502920" cy="137160"/>
          </a:xfrm>
          <a:prstGeom prst="line">
            <a:avLst/>
          </a:prstGeom>
          <a:noFill/>
          <a:ln w="28575">
            <a:solidFill>
              <a:srgbClr val="18A999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160520" y="3611880"/>
            <a:ext cx="502920" cy="91440"/>
          </a:xfrm>
          <a:prstGeom prst="line">
            <a:avLst/>
          </a:prstGeom>
          <a:noFill/>
          <a:ln w="28575">
            <a:solidFill>
              <a:srgbClr val="18A999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97280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 実測   - - 予測(3時間先まで)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" y="4892040"/>
            <a:ext cx="42976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0EA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001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曜日×時間帯の混雑傾向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7280" y="5349240"/>
            <a:ext cx="274320" cy="384048"/>
          </a:xfrm>
          <a:prstGeom prst="rect">
            <a:avLst/>
          </a:prstGeom>
          <a:solidFill>
            <a:srgbClr val="D9EFEC"/>
          </a:solidFill>
          <a:ln/>
        </p:spPr>
      </p:sp>
      <p:sp>
        <p:nvSpPr>
          <p:cNvPr id="22" name="Shape 20"/>
          <p:cNvSpPr/>
          <p:nvPr/>
        </p:nvSpPr>
        <p:spPr>
          <a:xfrm>
            <a:off x="1408176" y="5349240"/>
            <a:ext cx="274320" cy="384048"/>
          </a:xfrm>
          <a:prstGeom prst="rect">
            <a:avLst/>
          </a:prstGeom>
          <a:solidFill>
            <a:srgbClr val="9ED8CF"/>
          </a:solidFill>
          <a:ln/>
        </p:spPr>
      </p:sp>
      <p:sp>
        <p:nvSpPr>
          <p:cNvPr id="23" name="Shape 21"/>
          <p:cNvSpPr/>
          <p:nvPr/>
        </p:nvSpPr>
        <p:spPr>
          <a:xfrm>
            <a:off x="1719072" y="5349240"/>
            <a:ext cx="274320" cy="384048"/>
          </a:xfrm>
          <a:prstGeom prst="rect">
            <a:avLst/>
          </a:prstGeom>
          <a:solidFill>
            <a:srgbClr val="56B8AB"/>
          </a:solidFill>
          <a:ln/>
        </p:spPr>
      </p:sp>
      <p:sp>
        <p:nvSpPr>
          <p:cNvPr id="24" name="Shape 22"/>
          <p:cNvSpPr/>
          <p:nvPr/>
        </p:nvSpPr>
        <p:spPr>
          <a:xfrm>
            <a:off x="2029968" y="5349240"/>
            <a:ext cx="274320" cy="384048"/>
          </a:xfrm>
          <a:prstGeom prst="rect">
            <a:avLst/>
          </a:prstGeom>
          <a:solidFill>
            <a:srgbClr val="2E9186"/>
          </a:solidFill>
          <a:ln/>
        </p:spPr>
      </p:sp>
      <p:sp>
        <p:nvSpPr>
          <p:cNvPr id="25" name="Shape 23"/>
          <p:cNvSpPr/>
          <p:nvPr/>
        </p:nvSpPr>
        <p:spPr>
          <a:xfrm>
            <a:off x="2340864" y="5349240"/>
            <a:ext cx="274320" cy="384048"/>
          </a:xfrm>
          <a:prstGeom prst="rect">
            <a:avLst/>
          </a:prstGeom>
          <a:solidFill>
            <a:srgbClr val="9ED8CF"/>
          </a:solidFill>
          <a:ln/>
        </p:spPr>
      </p:sp>
      <p:sp>
        <p:nvSpPr>
          <p:cNvPr id="26" name="Shape 24"/>
          <p:cNvSpPr/>
          <p:nvPr/>
        </p:nvSpPr>
        <p:spPr>
          <a:xfrm>
            <a:off x="2651760" y="5349240"/>
            <a:ext cx="274320" cy="384048"/>
          </a:xfrm>
          <a:prstGeom prst="rect">
            <a:avLst/>
          </a:prstGeom>
          <a:solidFill>
            <a:srgbClr val="D9EFEC"/>
          </a:solidFill>
          <a:ln/>
        </p:spPr>
      </p:sp>
      <p:sp>
        <p:nvSpPr>
          <p:cNvPr id="27" name="Shape 25"/>
          <p:cNvSpPr/>
          <p:nvPr/>
        </p:nvSpPr>
        <p:spPr>
          <a:xfrm>
            <a:off x="2962656" y="5349240"/>
            <a:ext cx="274320" cy="384048"/>
          </a:xfrm>
          <a:prstGeom prst="rect">
            <a:avLst/>
          </a:prstGeom>
          <a:solidFill>
            <a:srgbClr val="EAF4F3"/>
          </a:solidFill>
          <a:ln/>
        </p:spPr>
      </p:sp>
      <p:sp>
        <p:nvSpPr>
          <p:cNvPr id="28" name="Shape 26"/>
          <p:cNvSpPr/>
          <p:nvPr/>
        </p:nvSpPr>
        <p:spPr>
          <a:xfrm>
            <a:off x="3273552" y="5349240"/>
            <a:ext cx="274320" cy="384048"/>
          </a:xfrm>
          <a:prstGeom prst="rect">
            <a:avLst/>
          </a:prstGeom>
          <a:solidFill>
            <a:srgbClr val="56B8AB"/>
          </a:solidFill>
          <a:ln/>
        </p:spPr>
      </p:sp>
      <p:sp>
        <p:nvSpPr>
          <p:cNvPr id="29" name="Shape 27"/>
          <p:cNvSpPr/>
          <p:nvPr/>
        </p:nvSpPr>
        <p:spPr>
          <a:xfrm>
            <a:off x="3584448" y="5349240"/>
            <a:ext cx="274320" cy="384048"/>
          </a:xfrm>
          <a:prstGeom prst="rect">
            <a:avLst/>
          </a:prstGeom>
          <a:solidFill>
            <a:srgbClr val="2E9186"/>
          </a:solidFill>
          <a:ln/>
        </p:spPr>
      </p:sp>
      <p:sp>
        <p:nvSpPr>
          <p:cNvPr id="30" name="Shape 28"/>
          <p:cNvSpPr/>
          <p:nvPr/>
        </p:nvSpPr>
        <p:spPr>
          <a:xfrm>
            <a:off x="3895344" y="5349240"/>
            <a:ext cx="274320" cy="384048"/>
          </a:xfrm>
          <a:prstGeom prst="rect">
            <a:avLst/>
          </a:prstGeom>
          <a:solidFill>
            <a:srgbClr val="56B8AB"/>
          </a:solidFill>
          <a:ln/>
        </p:spPr>
      </p:sp>
      <p:sp>
        <p:nvSpPr>
          <p:cNvPr id="31" name="Shape 29"/>
          <p:cNvSpPr/>
          <p:nvPr/>
        </p:nvSpPr>
        <p:spPr>
          <a:xfrm>
            <a:off x="4206240" y="5349240"/>
            <a:ext cx="274320" cy="384048"/>
          </a:xfrm>
          <a:prstGeom prst="rect">
            <a:avLst/>
          </a:prstGeom>
          <a:solidFill>
            <a:srgbClr val="D9EFEC"/>
          </a:solidFill>
          <a:ln/>
        </p:spPr>
      </p:sp>
      <p:sp>
        <p:nvSpPr>
          <p:cNvPr id="32" name="Shape 30"/>
          <p:cNvSpPr/>
          <p:nvPr/>
        </p:nvSpPr>
        <p:spPr>
          <a:xfrm>
            <a:off x="4517136" y="5349240"/>
            <a:ext cx="274320" cy="384048"/>
          </a:xfrm>
          <a:prstGeom prst="rect">
            <a:avLst/>
          </a:prstGeom>
          <a:solidFill>
            <a:srgbClr val="9ED8CF"/>
          </a:solidFill>
          <a:ln/>
        </p:spPr>
      </p:sp>
      <p:sp>
        <p:nvSpPr>
          <p:cNvPr id="33" name="Shape 31"/>
          <p:cNvSpPr/>
          <p:nvPr/>
        </p:nvSpPr>
        <p:spPr>
          <a:xfrm>
            <a:off x="5806440" y="1627632"/>
            <a:ext cx="274320" cy="274320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いまの混雑がひと目で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63640" y="1947672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現在のCO2濃度と4段階レベルをバッジ表示。「1時間後の見込み」も併記。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06440" y="2798064"/>
            <a:ext cx="274320" cy="274320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27249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実測+予測ライン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63640" y="3118104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直近6/24時間の実測に、この先3時間の予測を点線で重ねて表示。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806440" y="3968496"/>
            <a:ext cx="274320" cy="274320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389534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曜日×時間帯ヒートマップ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263640" y="4288536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「いつ空きやすいか」の傾向を過去データから可視化。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806440" y="5138928"/>
            <a:ext cx="274320" cy="274320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506577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止まらない設計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263640" y="545896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モデルやカレンダーが無い環境では予測だけを自動で外し、実測表示は継続(graceful degradation)。データが30分以上古い場合は警告を表示。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まとめと今後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09344"/>
            <a:ext cx="256032" cy="256032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508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設置済みCO2センサーだけで、B1Fフリースペースの混雑推定と3時間先までの予測を実現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660904"/>
            <a:ext cx="256032" cy="256032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5603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 → 前処理 → 推論 → 可視化まで全自動。閾値もモデルもデータ蓄積に応じて更新できる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3712464"/>
            <a:ext cx="256032" cy="256032"/>
          </a:xfrm>
          <a:prstGeom prst="ellipse">
            <a:avLst/>
          </a:prstGeom>
          <a:solidFill>
            <a:srgbClr val="18A99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6118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3時間先でも誤差40ppm程度と、レベル判定に十分な精度を確認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178040" y="1417320"/>
            <a:ext cx="4434840" cy="4206240"/>
          </a:xfrm>
          <a:prstGeom prst="roundRect">
            <a:avLst>
              <a:gd name="adj" fmla="val 2174"/>
            </a:avLst>
          </a:prstGeom>
          <a:solidFill>
            <a:srgbClr val="10505C"/>
          </a:solidFill>
          <a:ln w="12700">
            <a:solidFill>
              <a:srgbClr val="1E6B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6916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A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今後の展開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A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「混雑レベルを何%当てられるか」の分類精度評価(混同行列)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A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0" y="3383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長期休暇・季節によるCO2分布の変化への追従を検証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A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55280" y="4480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Jetson Nano+カメラの実験室検証で「CO2→人数」の関係を裏付け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E7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spj-nano ― 名城大学 天白キャンパス 混雑予測プロジェクト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2026-07-20T07:13:33Z</dcterms:created>
  <dcterms:modified xsi:type="dcterms:W3CDTF">2026-07-20T07:13:33Z</dcterms:modified>
</cp:coreProperties>
</file>