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6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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33B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22333B"/>
                </a:solidFill>
                <a:latin typeface="Yu Gothic"/>
              </a:rPr>
              <a:t>予測誤差(ppm) ― 小さいほど正確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MAE(平均絶対誤差)</c:v>
                </c:pt>
              </c:strCache>
            </c:strRef>
          </c:tx>
          <c:spPr>
            <a:solidFill>
              <a:srgbClr val="18A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33B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+15分</c:v>
                  </c:pt>
                  <c:pt idx="1">
                    <c:v>+30分</c:v>
                  </c:pt>
                  <c:pt idx="2">
                    <c:v>+60分</c:v>
                  </c:pt>
                  <c:pt idx="3">
                    <c:v>+120分</c:v>
                  </c:pt>
                  <c:pt idx="4">
                    <c:v>+180分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12.5</c:v>
                </c:pt>
                <c:pt idx="2">
                  <c:v>19.8</c:v>
                </c:pt>
                <c:pt idx="3">
                  <c:v>31.9</c:v>
                </c:pt>
                <c:pt idx="4">
                  <c:v>39.8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B9CF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33B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+15分</c:v>
                  </c:pt>
                  <c:pt idx="1">
                    <c:v>+30分</c:v>
                  </c:pt>
                  <c:pt idx="2">
                    <c:v>+60分</c:v>
                  </c:pt>
                  <c:pt idx="3">
                    <c:v>+120分</c:v>
                  </c:pt>
                  <c:pt idx="4">
                    <c:v>+180分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13.1</c:v>
                </c:pt>
                <c:pt idx="1">
                  <c:v>20</c:v>
                </c:pt>
                <c:pt idx="2">
                  <c:v>30.7</c:v>
                </c:pt>
                <c:pt idx="3">
                  <c:v>46.9</c:v>
                </c:pt>
                <c:pt idx="4">
                  <c:v>58.5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33B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33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0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548640"/>
            <a:ext cx="2377440" cy="2377440"/>
          </a:xfrm>
          <a:prstGeom prst="ellipse">
            <a:avLst/>
          </a:prstGeom>
          <a:solidFill>
            <a:srgbClr val="18A99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2377440"/>
            <a:ext cx="1554480" cy="1554480"/>
          </a:xfrm>
          <a:prstGeom prst="ellipse">
            <a:avLst/>
          </a:prstGeom>
          <a:solidFill>
            <a:srgbClr val="18A999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3291840"/>
            <a:ext cx="960120" cy="960120"/>
          </a:xfrm>
          <a:prstGeom prst="ellipse">
            <a:avLst/>
          </a:prstGeom>
          <a:solidFill>
            <a:srgbClr val="CDE7E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389120"/>
            <a:ext cx="2011680" cy="2011680"/>
          </a:xfrm>
          <a:prstGeom prst="ellipse">
            <a:avLst/>
          </a:prstGeom>
          <a:solidFill>
            <a:srgbClr val="18A999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4040" y="2697480"/>
            <a:ext cx="502920" cy="502920"/>
          </a:xfrm>
          <a:prstGeom prst="ellipse">
            <a:avLst/>
          </a:prstGeom>
          <a:solidFill>
            <a:srgbClr val="CDE7E4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3977640"/>
            <a:ext cx="731520" cy="731520"/>
          </a:xfrm>
          <a:prstGeom prst="ellipse">
            <a:avLst/>
          </a:prstGeom>
          <a:solidFill>
            <a:srgbClr val="CDE7E4">
              <a:alpha val="2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5394960"/>
            <a:ext cx="1051560" cy="1051560"/>
          </a:xfrm>
          <a:prstGeom prst="ellipse">
            <a:avLst/>
          </a:prstGeom>
          <a:solidFill>
            <a:srgbClr val="18A999">
              <a:alpha val="3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名城大学 天白キャンパス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 フリースペース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混雑予測システム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設置済みCO2センサーによる混雑状態の推定・予測システム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背景と課題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566928" cy="5669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5453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混雑状況の把握が困難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机・椅子・コンビニのあるB1Fフリースペースは人気が高く、混雑の波が大きい。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172968"/>
            <a:ext cx="566928" cy="566928"/>
          </a:xfrm>
          <a:prstGeom prst="ellipse">
            <a:avLst/>
          </a:prstGeom>
          <a:solidFill>
            <a:srgbClr val="CE4A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1181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カメラでの人数計測は不可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55701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学内施設のため、カメラの常設・長時間設置ができない(プライバシー・施設上の制約)。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745736"/>
            <a:ext cx="566928" cy="566928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6908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CO2濃度を人の「代理指標」に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51297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在室人数が増えるほど呼気でCO2濃度が上がる性質を利用し、設置済みセンサーだけで混雑を推定・予測する。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1463040"/>
            <a:ext cx="4343400" cy="4709160"/>
          </a:xfrm>
          <a:prstGeom prst="roundRect">
            <a:avLst>
              <a:gd name="adj" fmla="val 1895"/>
            </a:avLst>
          </a:prstGeom>
          <a:solidFill>
            <a:srgbClr val="E9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 Airoco センサー(7台)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70648" y="2221992"/>
            <a:ext cx="3941064" cy="475488"/>
          </a:xfrm>
          <a:prstGeom prst="roundRect">
            <a:avLst>
              <a:gd name="adj" fmla="val 11538"/>
            </a:avLst>
          </a:prstGeom>
          <a:solidFill>
            <a:srgbClr val="18A999"/>
          </a:solidFill>
          <a:ln/>
        </p:spPr>
      </p:sp>
      <p:sp>
        <p:nvSpPr>
          <p:cNvPr id="18" name="Text 16"/>
          <p:cNvSpPr/>
          <p:nvPr/>
        </p:nvSpPr>
        <p:spPr>
          <a:xfrm>
            <a:off x="7616952" y="2286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 エレベーターホール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31552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予測対象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16952" y="27980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1F エレベーターホール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31552" y="27980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16952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3F エレベーターホール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131552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16952" y="3822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4F エレベーターホール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31552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6952" y="4334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301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31552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16952" y="4846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401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31552" y="4846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16952" y="53583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403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131552" y="53583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59161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温度・湿度・CO2濃度を5分間隔で計測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039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Airoco クラウド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039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設置センサーの計測値をAPIで提供(5分値)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231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8231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10分間隔でポーリングしDBへ保存。起動時に欠測を自動補完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5820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1423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 データベース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71423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約1年分・73.9万件を蓄積(7センサー)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5039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センサースパイク除去、混雑閾値の自動算出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LightGBM 推論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78231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15〜180分後のCO2を5つの学習済みモデルで予測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0A5566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1423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ダッシュボード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1423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FastAPI + 静的フロントエンド。5分ごとに自動更新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5020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95020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212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5812" y="3364992"/>
            <a:ext cx="310896" cy="457200"/>
          </a:xfrm>
          <a:prstGeom prst="downArrow">
            <a:avLst/>
          </a:prstGeom>
          <a:solidFill>
            <a:srgbClr val="18A99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19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蓄積データを前処理へ(下段は左から右へ)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モデルの学習はPCで実施し、配信側は推論のみ。Jetson Nanoのような非力なエッジ端末でも動作する軽量構成。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データと事前分析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データ期間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2025年7月〜2026年7月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7" name="Text 5"/>
          <p:cNvSpPr/>
          <p:nvPr/>
        </p:nvSpPr>
        <p:spPr>
          <a:xfrm>
            <a:off x="3447288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73.9万件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84448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蓄積した計測値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(7センサー合計)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0216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10" name="Text 8"/>
          <p:cNvSpPr/>
          <p:nvPr/>
        </p:nvSpPr>
        <p:spPr>
          <a:xfrm>
            <a:off x="6300216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37376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計測間隔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欠測ほぼゼロの安定運用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53144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9153144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90304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無人時ベースラインの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日次変動(460〜470ppm)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1ヶ月分の事前分析で確かめたこと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曜日×時刻だけで84%を説明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曜日×時刻ごとの過去平均だけでCO2変動のR²相当0.845。混雑には強い時間パターンがあり、予測が成立する見込みを確認。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98264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無人時ベースラインが安定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深夜・休日のCO2はおよそ460〜470ppmで安定。人由来の上昇分を分離できる。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02168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従来の閾値は実態と乖離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固定閾値(500/700/1000ppm)では最上位が一度も出現しない。実測分布に基づく閾値への再設定が必要と判明。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混雑レベル ― データ駆動の4段階閾値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3BA27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空いています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〜550 ppm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7288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D9A521"/>
          </a:solidFill>
          <a:ln/>
        </p:spPr>
      </p:sp>
      <p:sp>
        <p:nvSpPr>
          <p:cNvPr id="8" name="Text 6"/>
          <p:cNvSpPr/>
          <p:nvPr/>
        </p:nvSpPr>
        <p:spPr>
          <a:xfrm>
            <a:off x="3447288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やや利用あり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47288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550〜650 ppm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0216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0216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0216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650〜760 ppm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53144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CE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53144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非常に混雑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53144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760 ppm〜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5294376" cy="1783080"/>
          </a:xfrm>
          <a:prstGeom prst="roundRect">
            <a:avLst>
              <a:gd name="adj" fmla="val 4615"/>
            </a:avLst>
          </a:prstGeom>
          <a:solidFill>
            <a:srgbClr val="E9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分位点ベースで自動更新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49834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閾値は固定値ではなく、平日日中(9〜18時)の実測分布の分位点(30/55/90%点)から自動算出。データが増えるほど実態に追従する。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0216" y="4343400"/>
            <a:ext cx="5294376" cy="1783080"/>
          </a:xfrm>
          <a:prstGeom prst="roundRect">
            <a:avLst>
              <a:gd name="adj" fmla="val 4615"/>
            </a:avLst>
          </a:prstGeom>
          <a:solidFill>
            <a:srgbClr val="E9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574536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実測レンジに合わせて再設計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74536" y="49834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B1Fの通常利用時のCO2はおよそ450〜850ppm。従来の「1000ppmで最混雑」では観測期間中に一度も最上位に達しなかったため、全4段階が実際に出現する閾値へ再設定した。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予測モデル ― LightGBM × 5ホライズン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15・30・60・120・180分後のCO2濃度を、それぞれ専用の回帰モデルで直接予測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4231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+15分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2423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17296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729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+30分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31729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92277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9227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+60分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9227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672584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7258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+120分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46725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42239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422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+180分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5422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88個の特徴量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148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全7センサーの時系列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7376" y="2569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各センサーの現在値と5分前〜3時間前のラグ値。他フロアの動きが空調・外気などの共通変動を教えてくれる。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1965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4" name="Text 22"/>
          <p:cNvSpPr/>
          <p:nvPr/>
        </p:nvSpPr>
        <p:spPr>
          <a:xfrm>
            <a:off x="9454896" y="2148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直近の統計量と変化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54896" y="2569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対象センサーの直近15分〜3時間の平均・ばらつき・最小最大、変化量。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6437376" y="4434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時間パターン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37376" y="4855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曜日×時刻の過去平均ベースラインとの残差、時刻・曜日の周期性(sin/cos)。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4251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9454896" y="4434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学年暦カレンダー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54896" y="4855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学年暦PDFから抽出した授業日・行事マーカー。授業のある日とない日の違いを学習。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63550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学習: 過去1年分のデータ / 検証: 直近14日をホールドアウトする時系列分割で評価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予測精度 ― 直近14日での検証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9436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15分後予測の誤差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±8.1 ppm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0" y="310896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E9F4F3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3337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レベル1段の幅は約100ppm。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3時間先でも誤差40ppm程度に収まり、混雑レベルの判定には概ね対応できる。ただしホライズンが伸びるほど誤差は拡大する。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検証は学習に使っていない直近14日(約4,000点/ホライズン)で実施。長期休暇・季節による分布変化への追従は未検証。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Webダッシュボード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08760"/>
            <a:ext cx="4846320" cy="4663440"/>
          </a:xfrm>
          <a:prstGeom prst="roundRect">
            <a:avLst>
              <a:gd name="adj" fmla="val 1961"/>
            </a:avLst>
          </a:prstGeom>
          <a:solidFill>
            <a:srgbClr val="F4F8F8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297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1371600" cy="457200"/>
          </a:xfrm>
          <a:prstGeom prst="roundRect">
            <a:avLst>
              <a:gd name="adj" fmla="val 48000"/>
            </a:avLst>
          </a:prstGeom>
          <a:solidFill>
            <a:srgbClr val="D9A52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やや利用あり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612 ppm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1時間後: 混雑の見込み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4297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混雑の推移と予測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1143000" y="4206240"/>
            <a:ext cx="502920" cy="22860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4206240"/>
            <a:ext cx="502920" cy="13716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148840" y="3931920"/>
            <a:ext cx="502920" cy="41148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931920"/>
            <a:ext cx="502920" cy="13716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154680" y="3749040"/>
            <a:ext cx="502920" cy="32004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657600" y="3611880"/>
            <a:ext cx="502920" cy="137160"/>
          </a:xfrm>
          <a:prstGeom prst="line">
            <a:avLst/>
          </a:prstGeom>
          <a:noFill/>
          <a:ln w="28575">
            <a:solidFill>
              <a:srgbClr val="18A99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60520" y="3611880"/>
            <a:ext cx="502920" cy="91440"/>
          </a:xfrm>
          <a:prstGeom prst="line">
            <a:avLst/>
          </a:prstGeom>
          <a:noFill/>
          <a:ln w="28575">
            <a:solidFill>
              <a:srgbClr val="18A99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実測   - - 予測(3時間先まで)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4892040"/>
            <a:ext cx="4297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曜日×時間帯の混雑傾向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8176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24" name="Shape 22"/>
          <p:cNvSpPr/>
          <p:nvPr/>
        </p:nvSpPr>
        <p:spPr>
          <a:xfrm>
            <a:off x="2029968" y="5349240"/>
            <a:ext cx="274320" cy="384048"/>
          </a:xfrm>
          <a:prstGeom prst="rect">
            <a:avLst/>
          </a:prstGeom>
          <a:solidFill>
            <a:srgbClr val="2E9186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0864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2962656" y="5349240"/>
            <a:ext cx="274320" cy="38404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8" name="Shape 26"/>
          <p:cNvSpPr/>
          <p:nvPr/>
        </p:nvSpPr>
        <p:spPr>
          <a:xfrm>
            <a:off x="3273552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84448" y="5349240"/>
            <a:ext cx="274320" cy="384048"/>
          </a:xfrm>
          <a:prstGeom prst="rect">
            <a:avLst/>
          </a:prstGeom>
          <a:solidFill>
            <a:srgbClr val="2E9186"/>
          </a:solidFill>
          <a:ln/>
        </p:spPr>
      </p:sp>
      <p:sp>
        <p:nvSpPr>
          <p:cNvPr id="30" name="Shape 28"/>
          <p:cNvSpPr/>
          <p:nvPr/>
        </p:nvSpPr>
        <p:spPr>
          <a:xfrm>
            <a:off x="3895344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31" name="Shape 29"/>
          <p:cNvSpPr/>
          <p:nvPr/>
        </p:nvSpPr>
        <p:spPr>
          <a:xfrm>
            <a:off x="420624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32" name="Shape 30"/>
          <p:cNvSpPr/>
          <p:nvPr/>
        </p:nvSpPr>
        <p:spPr>
          <a:xfrm>
            <a:off x="4517136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6440" y="1627632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現在値と1時間後見込みの表示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194767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現在のCO2濃度と4段階レベルをバッジ表示。「1時間後の見込み」も併記。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06440" y="2798064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724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実測+予測ライン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63640" y="31181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直近6/24時間の実測に、この先3時間の予測を点線で重ねて表示。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06440" y="3968496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895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曜日×時間帯ヒートマップ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63640" y="428853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「いつ空きやすいか」の傾向を過去データから可視化。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06440" y="5138928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50657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フォールバック動作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263640" y="54589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モデルやカレンダーが無い環境では予測だけを自動で外し、実測表示は継続(graceful degradation)。データが30分以上古い場合は警告を表示。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まとめと今後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934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設置済みCO2センサーのみを用いて、B1Fフリースペースの混雑推定と3時間先までの予測を構築した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66090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 → 前処理 → 推論 → 可視化まで全自動。閾値もモデルもデータ蓄積に応じて更新できる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71246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11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直近14日の検証では3時間先でも誤差40ppm程度で、レベル判定への活用が見込める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4434840" cy="4206240"/>
          </a:xfrm>
          <a:prstGeom prst="roundRect">
            <a:avLst>
              <a:gd name="adj" fmla="val 2174"/>
            </a:avLst>
          </a:prstGeom>
          <a:solidFill>
            <a:srgbClr val="10505C"/>
          </a:solidFill>
          <a:ln w="12700">
            <a:solidFill>
              <a:srgbClr val="1E6B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691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今後の展開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「混雑レベルを何%当てられるか」の分類精度評価(混同行列)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長期休暇・季節によるCO2分布の変化への追従を検証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Jetson Nano+カメラの実験室検証で「CO2→人数」の関係を裏付け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spj-nano ― 名城大学 天白キャンパス 混雑予測プロジェクト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データ収集の仕組み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039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Airoco データAPI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039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/latest で直近15分以内の全センサー最新値を取得。/day-csv で任意期間の24時間分をCSV取得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231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収集サーバー(常駐)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8231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10分間隔でlatest APIをポーリングし、新規データのみSQLiteへ保存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5820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1423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起動時の欠測補完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71423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DB最終時刻とのギャップが15分を超える場合、day-csvで24時間単位に補完(上限30日)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SQLiteスキーマ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5039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sensor_readingsテーブルにセンサー名・CO2・温湿度・timestampを格納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重複排除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78231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(sensor_number, timestamp)にUNIQUE制約。ポーリングの重なりや再取得時の重複登録を防止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0A5566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1423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蓄積状況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1423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約1年分・73.9万件(7センサー合計)を欠測ほぼゼロで蓄積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5020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95020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212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5812" y="3364992"/>
            <a:ext cx="310896" cy="457200"/>
          </a:xfrm>
          <a:prstGeom prst="downArrow">
            <a:avLst/>
          </a:prstGeom>
          <a:solidFill>
            <a:srgbClr val="18A99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19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Airocoからの取得・保存の流れ(下段は左から右へ)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収集サーバーは常駐プロセスとして稼働し、API取得エラー時も次回ポーリングへ継続。停止期間があっても起動時補完で追従する。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2026-07-20T07:13:33Z</dcterms:created>
  <dcterms:modified xsi:type="dcterms:W3CDTF">2026-07-20T07:13:33Z</dcterms:modified>
</cp:coreProperties>
</file>